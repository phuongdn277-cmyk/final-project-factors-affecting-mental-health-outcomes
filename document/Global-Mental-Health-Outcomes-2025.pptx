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9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Instrument Sans Semi Bold" pitchFamily="34" charset="0"/>
      <p:regular r:id="rId17"/>
    </p:embeddedFont>
    <p:embeddedFont>
      <p:font typeface="Instrument Sans Semi Bold" pitchFamily="34" charset="-122"/>
      <p:regular r:id="rId18"/>
    </p:embeddedFont>
    <p:embeddedFont>
      <p:font typeface="Instrument Sans Semi Bold" pitchFamily="34" charset="-120"/>
      <p:regular r:id="rId19"/>
    </p:embeddedFont>
    <p:embeddedFont>
      <p:font typeface="Instrument Sans Medium" pitchFamily="34" charset="0"/>
      <p:regular r:id="rId20"/>
    </p:embeddedFont>
    <p:embeddedFont>
      <p:font typeface="Instrument Sans Medium" pitchFamily="34" charset="-122"/>
      <p:regular r:id="rId21"/>
    </p:embeddedFont>
    <p:embeddedFont>
      <p:font typeface="Instrument Sans Medium" pitchFamily="34" charset="-120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3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tags" Target="../tags/tag21.xml"/><Relationship Id="rId23" Type="http://schemas.openxmlformats.org/officeDocument/2006/relationships/notesSlide" Target="../notesSlides/notesSlide3.xml"/><Relationship Id="rId22" Type="http://schemas.openxmlformats.org/officeDocument/2006/relationships/slideLayout" Target="../slideLayouts/slideLayout4.xml"/><Relationship Id="rId21" Type="http://schemas.openxmlformats.org/officeDocument/2006/relationships/image" Target="../media/image9.svg"/><Relationship Id="rId20" Type="http://schemas.openxmlformats.org/officeDocument/2006/relationships/image" Target="../media/image8.svg"/><Relationship Id="rId2" Type="http://schemas.openxmlformats.org/officeDocument/2006/relationships/tags" Target="../tags/tag20.xml"/><Relationship Id="rId19" Type="http://schemas.openxmlformats.org/officeDocument/2006/relationships/tags" Target="../tags/tag33.xml"/><Relationship Id="rId18" Type="http://schemas.openxmlformats.org/officeDocument/2006/relationships/tags" Target="../tags/tag32.xml"/><Relationship Id="rId17" Type="http://schemas.openxmlformats.org/officeDocument/2006/relationships/image" Target="../media/image7.svg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image" Target="../media/image6.svg"/><Relationship Id="rId10" Type="http://schemas.openxmlformats.org/officeDocument/2006/relationships/tags" Target="../tags/tag26.xml"/><Relationship Id="rId1" Type="http://schemas.openxmlformats.org/officeDocument/2006/relationships/tags" Target="../tags/tag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0.xml"/><Relationship Id="rId7" Type="http://schemas.openxmlformats.org/officeDocument/2006/relationships/image" Target="../media/image23.svg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Relationship Id="rId3" Type="http://schemas.openxmlformats.org/officeDocument/2006/relationships/image" Target="../media/image19.svg"/><Relationship Id="rId2" Type="http://schemas.openxmlformats.org/officeDocument/2006/relationships/image" Target="../media/image4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image" Target="../media/image26.png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image" Target="../media/image25.png"/><Relationship Id="rId2" Type="http://schemas.openxmlformats.org/officeDocument/2006/relationships/tags" Target="../tags/tag34.xml"/><Relationship Id="rId15" Type="http://schemas.openxmlformats.org/officeDocument/2006/relationships/notesSlide" Target="../notesSlides/notesSlide10.xml"/><Relationship Id="rId14" Type="http://schemas.openxmlformats.org/officeDocument/2006/relationships/slideLayout" Target="../slideLayouts/slideLayout11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image" Target="../media/image27.png"/><Relationship Id="rId10" Type="http://schemas.openxmlformats.org/officeDocument/2006/relationships/tags" Target="../tags/tag40.xml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54429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Global Mental Health Outcomes (2025)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Data Analysis Project by Dương Ngọc Phượng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528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0690" y="3655457"/>
            <a:ext cx="12831247" cy="6792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Project Overview: Unveiling Mental Health Insights</a:t>
            </a:r>
            <a:endParaRPr lang="en-US" sz="4250" dirty="0"/>
          </a:p>
        </p:txBody>
      </p:sp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760690" y="4986695"/>
            <a:ext cx="4224814" cy="2304455"/>
          </a:xfrm>
          <a:prstGeom prst="roundRect">
            <a:avLst>
              <a:gd name="adj" fmla="val 6349"/>
            </a:avLst>
          </a:prstGeom>
          <a:solidFill>
            <a:srgbClr val="FFFFFF"/>
          </a:solidFill>
        </p:spPr>
      </p:sp>
      <p:sp>
        <p:nvSpPr>
          <p:cNvPr id="5" name="Shape 2"/>
          <p:cNvSpPr/>
          <p:nvPr>
            <p:custDataLst>
              <p:tags r:id="rId3"/>
            </p:custDataLst>
          </p:nvPr>
        </p:nvSpPr>
        <p:spPr>
          <a:xfrm>
            <a:off x="760690" y="4956215"/>
            <a:ext cx="4224814" cy="121920"/>
          </a:xfrm>
          <a:prstGeom prst="roundRect">
            <a:avLst>
              <a:gd name="adj" fmla="val 160459"/>
            </a:avLst>
          </a:prstGeom>
          <a:solidFill>
            <a:srgbClr val="84C1FA"/>
          </a:solidFill>
        </p:spPr>
      </p:sp>
      <p:sp>
        <p:nvSpPr>
          <p:cNvPr id="6" name="Shape 3"/>
          <p:cNvSpPr/>
          <p:nvPr>
            <p:custDataLst>
              <p:tags r:id="rId4"/>
            </p:custDataLst>
          </p:nvPr>
        </p:nvSpPr>
        <p:spPr>
          <a:xfrm>
            <a:off x="2547104" y="4660702"/>
            <a:ext cx="651986" cy="651986"/>
          </a:xfrm>
          <a:prstGeom prst="roundRect">
            <a:avLst>
              <a:gd name="adj" fmla="val 140248"/>
            </a:avLst>
          </a:prstGeom>
          <a:solidFill>
            <a:srgbClr val="84C1FA"/>
          </a:solidFill>
        </p:spPr>
      </p:sp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2742724" y="4823698"/>
            <a:ext cx="260747" cy="3259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050" dirty="0"/>
          </a:p>
        </p:txBody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1008459" y="5530096"/>
            <a:ext cx="2717006" cy="3395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Dataset Source</a:t>
            </a:r>
            <a:endParaRPr lang="en-US" sz="2100" dirty="0"/>
          </a:p>
        </p:txBody>
      </p:sp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1008459" y="6000036"/>
            <a:ext cx="3729276" cy="10433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Kaggle's Global Mental Health Dataset 2025, featuring anonymous patient-level data.</a:t>
            </a:r>
            <a:endParaRPr lang="en-US" sz="1700" dirty="0"/>
          </a:p>
        </p:txBody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5202793" y="4986695"/>
            <a:ext cx="4224814" cy="2304455"/>
          </a:xfrm>
          <a:prstGeom prst="roundRect">
            <a:avLst>
              <a:gd name="adj" fmla="val 6349"/>
            </a:avLst>
          </a:prstGeom>
          <a:solidFill>
            <a:srgbClr val="FFFFFF"/>
          </a:solidFill>
        </p:spPr>
      </p:sp>
      <p:sp>
        <p:nvSpPr>
          <p:cNvPr id="11" name="Shape 8"/>
          <p:cNvSpPr/>
          <p:nvPr>
            <p:custDataLst>
              <p:tags r:id="rId9"/>
            </p:custDataLst>
          </p:nvPr>
        </p:nvSpPr>
        <p:spPr>
          <a:xfrm>
            <a:off x="5202793" y="4956215"/>
            <a:ext cx="4224814" cy="121920"/>
          </a:xfrm>
          <a:prstGeom prst="roundRect">
            <a:avLst>
              <a:gd name="adj" fmla="val 160459"/>
            </a:avLst>
          </a:prstGeom>
          <a:solidFill>
            <a:srgbClr val="84C1FA"/>
          </a:solidFill>
        </p:spPr>
      </p:sp>
      <p:sp>
        <p:nvSpPr>
          <p:cNvPr id="12" name="Shape 9"/>
          <p:cNvSpPr/>
          <p:nvPr>
            <p:custDataLst>
              <p:tags r:id="rId10"/>
            </p:custDataLst>
          </p:nvPr>
        </p:nvSpPr>
        <p:spPr>
          <a:xfrm>
            <a:off x="6989207" y="4660702"/>
            <a:ext cx="651986" cy="651986"/>
          </a:xfrm>
          <a:prstGeom prst="roundRect">
            <a:avLst>
              <a:gd name="adj" fmla="val 140248"/>
            </a:avLst>
          </a:prstGeom>
          <a:solidFill>
            <a:srgbClr val="84C1FA"/>
          </a:solidFill>
        </p:spPr>
      </p:sp>
      <p:sp>
        <p:nvSpPr>
          <p:cNvPr id="13" name="Text 10"/>
          <p:cNvSpPr/>
          <p:nvPr>
            <p:custDataLst>
              <p:tags r:id="rId11"/>
            </p:custDataLst>
          </p:nvPr>
        </p:nvSpPr>
        <p:spPr>
          <a:xfrm>
            <a:off x="7184827" y="4823698"/>
            <a:ext cx="260747" cy="3259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050" dirty="0"/>
          </a:p>
        </p:txBody>
      </p:sp>
      <p:sp>
        <p:nvSpPr>
          <p:cNvPr id="14" name="Text 11"/>
          <p:cNvSpPr/>
          <p:nvPr>
            <p:custDataLst>
              <p:tags r:id="rId12"/>
            </p:custDataLst>
          </p:nvPr>
        </p:nvSpPr>
        <p:spPr>
          <a:xfrm>
            <a:off x="5450562" y="5530096"/>
            <a:ext cx="2717006" cy="3395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Purpose</a:t>
            </a:r>
            <a:endParaRPr lang="en-US" sz="2100" dirty="0"/>
          </a:p>
        </p:txBody>
      </p:sp>
      <p:sp>
        <p:nvSpPr>
          <p:cNvPr id="15" name="Text 12"/>
          <p:cNvSpPr/>
          <p:nvPr>
            <p:custDataLst>
              <p:tags r:id="rId13"/>
            </p:custDataLst>
          </p:nvPr>
        </p:nvSpPr>
        <p:spPr>
          <a:xfrm>
            <a:off x="5450562" y="6000036"/>
            <a:ext cx="3729276" cy="6955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Analyze global mental health data to identify key influencing factors.</a:t>
            </a:r>
            <a:endParaRPr lang="en-US" sz="1700" dirty="0"/>
          </a:p>
        </p:txBody>
      </p:sp>
      <p:sp>
        <p:nvSpPr>
          <p:cNvPr id="16" name="Shape 13"/>
          <p:cNvSpPr/>
          <p:nvPr>
            <p:custDataLst>
              <p:tags r:id="rId14"/>
            </p:custDataLst>
          </p:nvPr>
        </p:nvSpPr>
        <p:spPr>
          <a:xfrm>
            <a:off x="9644896" y="4986695"/>
            <a:ext cx="4224814" cy="2304455"/>
          </a:xfrm>
          <a:prstGeom prst="roundRect">
            <a:avLst>
              <a:gd name="adj" fmla="val 6349"/>
            </a:avLst>
          </a:prstGeom>
          <a:solidFill>
            <a:srgbClr val="FFFFFF"/>
          </a:solidFill>
        </p:spPr>
      </p:sp>
      <p:sp>
        <p:nvSpPr>
          <p:cNvPr id="17" name="Shape 14"/>
          <p:cNvSpPr/>
          <p:nvPr>
            <p:custDataLst>
              <p:tags r:id="rId15"/>
            </p:custDataLst>
          </p:nvPr>
        </p:nvSpPr>
        <p:spPr>
          <a:xfrm>
            <a:off x="9644896" y="4956215"/>
            <a:ext cx="4224814" cy="121920"/>
          </a:xfrm>
          <a:prstGeom prst="roundRect">
            <a:avLst>
              <a:gd name="adj" fmla="val 160459"/>
            </a:avLst>
          </a:prstGeom>
          <a:solidFill>
            <a:srgbClr val="84C1FA"/>
          </a:solidFill>
        </p:spPr>
      </p:sp>
      <p:sp>
        <p:nvSpPr>
          <p:cNvPr id="18" name="Shape 15"/>
          <p:cNvSpPr/>
          <p:nvPr>
            <p:custDataLst>
              <p:tags r:id="rId16"/>
            </p:custDataLst>
          </p:nvPr>
        </p:nvSpPr>
        <p:spPr>
          <a:xfrm>
            <a:off x="11431310" y="4660702"/>
            <a:ext cx="651986" cy="651986"/>
          </a:xfrm>
          <a:prstGeom prst="roundRect">
            <a:avLst>
              <a:gd name="adj" fmla="val 140248"/>
            </a:avLst>
          </a:prstGeom>
          <a:solidFill>
            <a:srgbClr val="84C1FA"/>
          </a:solidFill>
        </p:spPr>
      </p:sp>
      <p:sp>
        <p:nvSpPr>
          <p:cNvPr id="19" name="Text 16"/>
          <p:cNvSpPr/>
          <p:nvPr>
            <p:custDataLst>
              <p:tags r:id="rId17"/>
            </p:custDataLst>
          </p:nvPr>
        </p:nvSpPr>
        <p:spPr>
          <a:xfrm>
            <a:off x="11626929" y="4823698"/>
            <a:ext cx="260747" cy="3259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050" dirty="0"/>
          </a:p>
        </p:txBody>
      </p:sp>
      <p:sp>
        <p:nvSpPr>
          <p:cNvPr id="20" name="Text 17"/>
          <p:cNvSpPr/>
          <p:nvPr>
            <p:custDataLst>
              <p:tags r:id="rId18"/>
            </p:custDataLst>
          </p:nvPr>
        </p:nvSpPr>
        <p:spPr>
          <a:xfrm>
            <a:off x="9892665" y="5530096"/>
            <a:ext cx="2717006" cy="3395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Goal</a:t>
            </a:r>
            <a:endParaRPr lang="en-US" sz="2100" dirty="0"/>
          </a:p>
        </p:txBody>
      </p:sp>
      <p:sp>
        <p:nvSpPr>
          <p:cNvPr id="21" name="Text 18"/>
          <p:cNvSpPr/>
          <p:nvPr>
            <p:custDataLst>
              <p:tags r:id="rId19"/>
            </p:custDataLst>
          </p:nvPr>
        </p:nvSpPr>
        <p:spPr>
          <a:xfrm>
            <a:off x="9892665" y="6000036"/>
            <a:ext cx="3729276" cy="10433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Compare factors affecting outcomes to support evidence-based decision-making.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4533"/>
            <a:ext cx="676406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Variables for Analysis</a:t>
            </a:r>
            <a:endParaRPr lang="en-US" sz="445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793790" y="2186940"/>
            <a:ext cx="4196358" cy="2577108"/>
          </a:xfrm>
          <a:prstGeom prst="roundRect">
            <a:avLst>
              <a:gd name="adj" fmla="val 7921"/>
            </a:avLst>
          </a:prstGeom>
          <a:solidFill>
            <a:srgbClr val="CEE6FD"/>
          </a:solidFill>
        </p:spPr>
      </p:sp>
      <p:sp>
        <p:nvSpPr>
          <p:cNvPr id="4" name="Shape 2"/>
          <p:cNvSpPr/>
          <p:nvPr>
            <p:custDataLst>
              <p:tags r:id="rId2"/>
            </p:custDataLst>
          </p:nvPr>
        </p:nvSpPr>
        <p:spPr>
          <a:xfrm>
            <a:off x="1020604" y="241375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</p:spPr>
      </p:sp>
      <p:pic>
        <p:nvPicPr>
          <p:cNvPr id="5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7770" y="2600801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>
            <p:custDataLst>
              <p:tags r:id="rId6"/>
            </p:custDataLst>
          </p:nvPr>
        </p:nvSpPr>
        <p:spPr>
          <a:xfrm>
            <a:off x="1020604" y="3321010"/>
            <a:ext cx="2835235" cy="354330"/>
          </a:xfrm>
          <a:prstGeom prst="rect">
            <a:avLst/>
          </a:prstGeom>
          <a:solidFill>
            <a:srgbClr val="CEE6FD"/>
          </a:solidFill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Outcome</a:t>
            </a:r>
            <a:endParaRPr lang="en-US" sz="2200" dirty="0"/>
          </a:p>
        </p:txBody>
      </p:sp>
      <p:sp>
        <p:nvSpPr>
          <p:cNvPr id="7" name="Text 4"/>
          <p:cNvSpPr/>
          <p:nvPr>
            <p:custDataLst>
              <p:tags r:id="rId7"/>
            </p:custDataLst>
          </p:nvPr>
        </p:nvSpPr>
        <p:spPr>
          <a:xfrm>
            <a:off x="1020604" y="3811429"/>
            <a:ext cx="374273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Categorized from Poor to Excellent.</a:t>
            </a:r>
            <a:endParaRPr lang="en-US" sz="1750" dirty="0"/>
          </a:p>
        </p:txBody>
      </p:sp>
      <p:sp>
        <p:nvSpPr>
          <p:cNvPr id="8" name="Shape 5"/>
          <p:cNvSpPr/>
          <p:nvPr>
            <p:custDataLst>
              <p:tags r:id="rId8"/>
            </p:custDataLst>
          </p:nvPr>
        </p:nvSpPr>
        <p:spPr>
          <a:xfrm>
            <a:off x="5216962" y="2186940"/>
            <a:ext cx="4196358" cy="2577108"/>
          </a:xfrm>
          <a:prstGeom prst="roundRect">
            <a:avLst>
              <a:gd name="adj" fmla="val 7921"/>
            </a:avLst>
          </a:prstGeom>
          <a:solidFill>
            <a:srgbClr val="CEE6FD"/>
          </a:solidFill>
        </p:spPr>
      </p:sp>
      <p:sp>
        <p:nvSpPr>
          <p:cNvPr id="9" name="Shape 6"/>
          <p:cNvSpPr/>
          <p:nvPr>
            <p:custDataLst>
              <p:tags r:id="rId9"/>
            </p:custDataLst>
          </p:nvPr>
        </p:nvSpPr>
        <p:spPr>
          <a:xfrm>
            <a:off x="5443776" y="241375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</p:spPr>
      </p:sp>
      <p:pic>
        <p:nvPicPr>
          <p:cNvPr id="10" name="Image 1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30942" y="2600801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>
            <p:custDataLst>
              <p:tags r:id="rId12"/>
            </p:custDataLst>
          </p:nvPr>
        </p:nvSpPr>
        <p:spPr>
          <a:xfrm>
            <a:off x="5443776" y="3321010"/>
            <a:ext cx="2835235" cy="354330"/>
          </a:xfrm>
          <a:prstGeom prst="rect">
            <a:avLst/>
          </a:prstGeom>
          <a:solidFill>
            <a:srgbClr val="CEE6FD"/>
          </a:solidFill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Demographic</a:t>
            </a:r>
            <a:endParaRPr lang="en-US" sz="2200" dirty="0"/>
          </a:p>
        </p:txBody>
      </p:sp>
      <p:sp>
        <p:nvSpPr>
          <p:cNvPr id="12" name="Text 8"/>
          <p:cNvSpPr/>
          <p:nvPr>
            <p:custDataLst>
              <p:tags r:id="rId13"/>
            </p:custDataLst>
          </p:nvPr>
        </p:nvSpPr>
        <p:spPr>
          <a:xfrm>
            <a:off x="5443776" y="3811429"/>
            <a:ext cx="374273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Age, Gender, Country, Work Status.</a:t>
            </a:r>
            <a:endParaRPr lang="en-US" sz="1750" dirty="0"/>
          </a:p>
        </p:txBody>
      </p:sp>
      <p:sp>
        <p:nvSpPr>
          <p:cNvPr id="13" name="Shape 9"/>
          <p:cNvSpPr/>
          <p:nvPr>
            <p:custDataLst>
              <p:tags r:id="rId14"/>
            </p:custDataLst>
          </p:nvPr>
        </p:nvSpPr>
        <p:spPr>
          <a:xfrm>
            <a:off x="9640133" y="2186940"/>
            <a:ext cx="4196358" cy="2577108"/>
          </a:xfrm>
          <a:prstGeom prst="roundRect">
            <a:avLst>
              <a:gd name="adj" fmla="val 7921"/>
            </a:avLst>
          </a:prstGeom>
          <a:solidFill>
            <a:srgbClr val="CEE6FD"/>
          </a:solidFill>
        </p:spPr>
      </p:sp>
      <p:sp>
        <p:nvSpPr>
          <p:cNvPr id="14" name="Shape 10"/>
          <p:cNvSpPr/>
          <p:nvPr>
            <p:custDataLst>
              <p:tags r:id="rId15"/>
            </p:custDataLst>
          </p:nvPr>
        </p:nvSpPr>
        <p:spPr>
          <a:xfrm>
            <a:off x="9866948" y="241375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</p:spPr>
      </p:sp>
      <p:pic>
        <p:nvPicPr>
          <p:cNvPr id="15" name="Image 2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054114" y="2600801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>
            <p:custDataLst>
              <p:tags r:id="rId18"/>
            </p:custDataLst>
          </p:nvPr>
        </p:nvSpPr>
        <p:spPr>
          <a:xfrm>
            <a:off x="9866948" y="332101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Clinical</a:t>
            </a:r>
            <a:endParaRPr lang="en-US" sz="2200" dirty="0"/>
          </a:p>
        </p:txBody>
      </p:sp>
      <p:sp>
        <p:nvSpPr>
          <p:cNvPr id="17" name="Text 12"/>
          <p:cNvSpPr/>
          <p:nvPr>
            <p:custDataLst>
              <p:tags r:id="rId19"/>
            </p:custDataLst>
          </p:nvPr>
        </p:nvSpPr>
        <p:spPr>
          <a:xfrm>
            <a:off x="9866948" y="3811429"/>
            <a:ext cx="374273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Depression, Anxiety, Stress, Chronic Illness.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4990862"/>
            <a:ext cx="6407944" cy="2214205"/>
          </a:xfrm>
          <a:prstGeom prst="roundRect">
            <a:avLst>
              <a:gd name="adj" fmla="val 9220"/>
            </a:avLst>
          </a:prstGeom>
          <a:solidFill>
            <a:srgbClr val="CEE6FD"/>
          </a:solidFill>
        </p:spPr>
      </p:sp>
      <p:sp>
        <p:nvSpPr>
          <p:cNvPr id="19" name="Shape 14"/>
          <p:cNvSpPr/>
          <p:nvPr/>
        </p:nvSpPr>
        <p:spPr>
          <a:xfrm>
            <a:off x="1020604" y="521767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207770" y="5404723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0604" y="612493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Lifestyle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20604" y="6615351"/>
            <a:ext cx="59543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Sleep, Physical Activity.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7428548" y="4990862"/>
            <a:ext cx="6407944" cy="2214205"/>
          </a:xfrm>
          <a:prstGeom prst="roundRect">
            <a:avLst>
              <a:gd name="adj" fmla="val 9220"/>
            </a:avLst>
          </a:prstGeom>
          <a:solidFill>
            <a:srgbClr val="CEE6FD"/>
          </a:solidFill>
        </p:spPr>
      </p:sp>
      <p:sp>
        <p:nvSpPr>
          <p:cNvPr id="24" name="Shape 18"/>
          <p:cNvSpPr/>
          <p:nvPr/>
        </p:nvSpPr>
        <p:spPr>
          <a:xfrm>
            <a:off x="7655362" y="521767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842528" y="5404723"/>
            <a:ext cx="306110" cy="3061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55362" y="612493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Treatment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7655362" y="6615351"/>
            <a:ext cx="59543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Type, Duration.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/>
      <p:bldP spid="7" grpId="0" bldLvl="0"/>
      <p:bldP spid="7" grpId="1"/>
      <p:bldP spid="11" grpId="0" bldLvl="0" animBg="1"/>
      <p:bldP spid="11" grpId="1" animBg="1"/>
      <p:bldP spid="12" grpId="0" bldLvl="0"/>
      <p:bldP spid="12" grpId="1"/>
      <p:bldP spid="16" grpId="0" bldLvl="0"/>
      <p:bldP spid="16" grpId="1"/>
      <p:bldP spid="17" grpId="0" bldLvl="0"/>
      <p:bldP spid="17" grpId="1"/>
      <p:bldP spid="21" grpId="0" bldLvl="0"/>
      <p:bldP spid="21" grpId="1"/>
      <p:bldP spid="22" grpId="0" bldLvl="0"/>
      <p:bldP spid="22" grpId="1"/>
      <p:bldP spid="26" grpId="0" bldLvl="0"/>
      <p:bldP spid="26" grpId="1"/>
      <p:bldP spid="27" grpId="0" bldLvl="0"/>
      <p:bldP spid="2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5323"/>
            <a:ext cx="5757148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Demographic Factors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837730"/>
            <a:ext cx="13042583" cy="46561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749058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Country differences observed in outcome percentages.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7191256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Work status shows notable variation in mental health outcomes.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/>
      <p:bldP spid="2" grpId="1"/>
      <p:bldP spid="4" grpId="0"/>
      <p:bldP spid="4" grpId="1"/>
      <p:bldP spid="5" grpId="0"/>
      <p:bldP spid="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6981" y="476845"/>
            <a:ext cx="4335899" cy="5419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Clinical Factors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060" y="1011555"/>
            <a:ext cx="10509250" cy="7035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67705" y="1734145"/>
            <a:ext cx="173355" cy="1363385"/>
          </a:xfrm>
          <a:prstGeom prst="roundRect">
            <a:avLst>
              <a:gd name="adj" fmla="val 90044"/>
            </a:avLst>
          </a:prstGeom>
          <a:solidFill>
            <a:srgbClr val="CEE6FD"/>
          </a:solidFill>
        </p:spPr>
      </p:sp>
      <p:sp>
        <p:nvSpPr>
          <p:cNvPr id="5" name="Shape 2"/>
          <p:cNvSpPr/>
          <p:nvPr/>
        </p:nvSpPr>
        <p:spPr>
          <a:xfrm>
            <a:off x="10994231" y="1620322"/>
            <a:ext cx="520303" cy="520303"/>
          </a:xfrm>
          <a:prstGeom prst="roundRect">
            <a:avLst>
              <a:gd name="adj" fmla="val 87872"/>
            </a:avLst>
          </a:prstGeom>
          <a:solidFill>
            <a:srgbClr val="CEE6FD"/>
          </a:solidFill>
        </p:spPr>
      </p:sp>
      <p:sp>
        <p:nvSpPr>
          <p:cNvPr id="6" name="Text 3"/>
          <p:cNvSpPr/>
          <p:nvPr/>
        </p:nvSpPr>
        <p:spPr>
          <a:xfrm>
            <a:off x="11124248" y="1717953"/>
            <a:ext cx="260152" cy="325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687889" y="1647349"/>
            <a:ext cx="2167890" cy="2709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Stress Level Impact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687889" y="2091690"/>
            <a:ext cx="2343031" cy="8326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Stress level is associated with mental health outcomes.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1427857" y="3531156"/>
            <a:ext cx="173355" cy="808315"/>
          </a:xfrm>
          <a:prstGeom prst="roundRect">
            <a:avLst>
              <a:gd name="adj" fmla="val 90044"/>
            </a:avLst>
          </a:prstGeom>
          <a:solidFill>
            <a:srgbClr val="CEE6FD"/>
          </a:solidFill>
        </p:spPr>
      </p:sp>
      <p:sp>
        <p:nvSpPr>
          <p:cNvPr id="10" name="Shape 7"/>
          <p:cNvSpPr/>
          <p:nvPr/>
        </p:nvSpPr>
        <p:spPr>
          <a:xfrm>
            <a:off x="11254383" y="3417332"/>
            <a:ext cx="520303" cy="520303"/>
          </a:xfrm>
          <a:prstGeom prst="roundRect">
            <a:avLst>
              <a:gd name="adj" fmla="val 87872"/>
            </a:avLst>
          </a:prstGeom>
          <a:solidFill>
            <a:srgbClr val="CEE6FD"/>
          </a:solidFill>
        </p:spPr>
      </p:sp>
      <p:sp>
        <p:nvSpPr>
          <p:cNvPr id="11" name="Text 8"/>
          <p:cNvSpPr/>
          <p:nvPr/>
        </p:nvSpPr>
        <p:spPr>
          <a:xfrm>
            <a:off x="11384399" y="3514963"/>
            <a:ext cx="260152" cy="325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1948041" y="3444359"/>
            <a:ext cx="2082879" cy="2709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Direct Correlation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1948041" y="3888700"/>
            <a:ext cx="2082879" cy="2775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negative relationship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675" y="499586"/>
            <a:ext cx="4540687" cy="5675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Numerical variables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073150"/>
            <a:ext cx="8108950" cy="3378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85910" y="1610995"/>
            <a:ext cx="4914265" cy="581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42900" lvl="0" indent="-342900" algn="l">
              <a:lnSpc>
                <a:spcPts val="2250"/>
              </a:lnSpc>
              <a:buClrTx/>
              <a:buSzTx/>
              <a:buFontTx/>
              <a:buChar char="•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sym typeface="+mn-ea"/>
              </a:rPr>
              <a:t>The median &amp; Interquaritile Range (IQR) are almost identical</a:t>
            </a:r>
            <a:endParaRPr lang="en-US" sz="1600" dirty="0">
              <a:solidFill>
                <a:srgbClr val="1E3063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  <a:sym typeface="+mn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9185910" y="2499995"/>
            <a:ext cx="4888230" cy="2908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42900" lvl="0" indent="-342900" algn="l">
              <a:lnSpc>
                <a:spcPts val="2250"/>
              </a:lnSpc>
              <a:buClrTx/>
              <a:buSzTx/>
              <a:buFontTx/>
              <a:buChar char="•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sym typeface="+mn-ea"/>
              </a:rPr>
              <a:t>All outcomes can occur at any range.</a:t>
            </a:r>
            <a:endParaRPr lang="en-US" sz="1600" dirty="0">
              <a:solidFill>
                <a:srgbClr val="1E3063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  <a:sym typeface="+mn-ea"/>
            </a:endParaRPr>
          </a:p>
        </p:txBody>
      </p:sp>
      <p:sp>
        <p:nvSpPr>
          <p:cNvPr id="6" name="Text 3"/>
          <p:cNvSpPr/>
          <p:nvPr/>
        </p:nvSpPr>
        <p:spPr>
          <a:xfrm>
            <a:off x="9185910" y="3098165"/>
            <a:ext cx="4982845" cy="8718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Numeric variables isn't a strong determinant of mental health outcomes in this dataset</a:t>
            </a:r>
            <a:endParaRPr lang="en-US" sz="1600" dirty="0"/>
          </a:p>
        </p:txBody>
      </p:sp>
      <p:pic>
        <p:nvPicPr>
          <p:cNvPr id="10" name="Picture 9" descr="outcome_by_sleephou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115" y="4457065"/>
            <a:ext cx="4873752" cy="3655314"/>
          </a:xfrm>
          <a:prstGeom prst="rect">
            <a:avLst/>
          </a:prstGeom>
        </p:spPr>
      </p:pic>
      <p:pic>
        <p:nvPicPr>
          <p:cNvPr id="11" name="Picture 10" descr="age_distribu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25" y="4457065"/>
            <a:ext cx="4873752" cy="3655485"/>
          </a:xfrm>
          <a:prstGeom prst="rect">
            <a:avLst/>
          </a:prstGeom>
        </p:spPr>
      </p:pic>
      <p:pic>
        <p:nvPicPr>
          <p:cNvPr id="12" name="Picture 11" descr="treatment_duration_by_outcom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4970" y="4457065"/>
            <a:ext cx="4873625" cy="36556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3152" y="357545"/>
            <a:ext cx="7077789" cy="4045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Correlation Analysis: Uncovering Relationships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3152" y="956310"/>
            <a:ext cx="13724096" cy="2071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Spearman correlation analysis reveals weak monotonic relationships between variables.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3152" y="1454706"/>
            <a:ext cx="13724096" cy="15240"/>
          </a:xfrm>
          <a:prstGeom prst="roundRect">
            <a:avLst>
              <a:gd name="adj" fmla="val 764664"/>
            </a:avLst>
          </a:prstGeom>
          <a:solidFill>
            <a:srgbClr val="B4CCE3"/>
          </a:solidFill>
        </p:spPr>
      </p:sp>
      <p:sp>
        <p:nvSpPr>
          <p:cNvPr id="5" name="Shape 3"/>
          <p:cNvSpPr/>
          <p:nvPr/>
        </p:nvSpPr>
        <p:spPr>
          <a:xfrm>
            <a:off x="3836075" y="1454706"/>
            <a:ext cx="15240" cy="388382"/>
          </a:xfrm>
          <a:prstGeom prst="roundRect">
            <a:avLst>
              <a:gd name="adj" fmla="val 764664"/>
            </a:avLst>
          </a:prstGeom>
          <a:solidFill>
            <a:srgbClr val="B4CCE3"/>
          </a:solidFill>
        </p:spPr>
      </p:sp>
      <p:sp>
        <p:nvSpPr>
          <p:cNvPr id="6" name="Shape 4"/>
          <p:cNvSpPr/>
          <p:nvPr/>
        </p:nvSpPr>
        <p:spPr>
          <a:xfrm>
            <a:off x="3698081" y="1309092"/>
            <a:ext cx="291227" cy="291227"/>
          </a:xfrm>
          <a:prstGeom prst="roundRect">
            <a:avLst>
              <a:gd name="adj" fmla="val 40015"/>
            </a:avLst>
          </a:prstGeom>
          <a:solidFill>
            <a:srgbClr val="CEE6FD"/>
          </a:solidFill>
        </p:spPr>
      </p:sp>
      <p:sp>
        <p:nvSpPr>
          <p:cNvPr id="7" name="Text 5"/>
          <p:cNvSpPr/>
          <p:nvPr/>
        </p:nvSpPr>
        <p:spPr>
          <a:xfrm>
            <a:off x="3746599" y="1333321"/>
            <a:ext cx="194191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34427" y="1972628"/>
            <a:ext cx="1618536" cy="2021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Weak Correlations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778966" y="1454706"/>
            <a:ext cx="15240" cy="388382"/>
          </a:xfrm>
          <a:prstGeom prst="roundRect">
            <a:avLst>
              <a:gd name="adj" fmla="val 764664"/>
            </a:avLst>
          </a:prstGeom>
          <a:solidFill>
            <a:srgbClr val="B4CCE3"/>
          </a:solidFill>
        </p:spPr>
      </p:sp>
      <p:sp>
        <p:nvSpPr>
          <p:cNvPr id="10" name="Shape 8"/>
          <p:cNvSpPr/>
          <p:nvPr/>
        </p:nvSpPr>
        <p:spPr>
          <a:xfrm>
            <a:off x="10640973" y="1309092"/>
            <a:ext cx="291227" cy="291227"/>
          </a:xfrm>
          <a:prstGeom prst="roundRect">
            <a:avLst>
              <a:gd name="adj" fmla="val 40015"/>
            </a:avLst>
          </a:prstGeom>
          <a:solidFill>
            <a:srgbClr val="CEE6FD"/>
          </a:solidFill>
        </p:spPr>
      </p:sp>
      <p:sp>
        <p:nvSpPr>
          <p:cNvPr id="11" name="Text 9"/>
          <p:cNvSpPr/>
          <p:nvPr/>
        </p:nvSpPr>
        <p:spPr>
          <a:xfrm>
            <a:off x="10689491" y="1333321"/>
            <a:ext cx="194191" cy="2427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77318" y="1972628"/>
            <a:ext cx="1618536" cy="2021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EDA Confirmation</a:t>
            </a:r>
            <a:endParaRPr lang="en-US" sz="12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3735" y="2320290"/>
            <a:ext cx="7962265" cy="5972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87542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Ordinal Logistic Regression Results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045262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Using an ordinal logistic regression model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663315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Outcome (Poor &lt; Fair &lt; Good &lt; Excellent)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4621530"/>
            <a:ext cx="3664744" cy="2320528"/>
          </a:xfrm>
          <a:prstGeom prst="roundRect">
            <a:avLst>
              <a:gd name="adj" fmla="val 8797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310670" y="4652010"/>
            <a:ext cx="3603784" cy="226814"/>
          </a:xfrm>
          <a:prstGeom prst="roundRect">
            <a:avLst>
              <a:gd name="adj" fmla="val 73880"/>
            </a:avLst>
          </a:prstGeom>
          <a:solidFill>
            <a:srgbClr val="CEE6FD"/>
          </a:solidFill>
        </p:spPr>
      </p:sp>
      <p:sp>
        <p:nvSpPr>
          <p:cNvPr id="8" name="Text 5"/>
          <p:cNvSpPr/>
          <p:nvPr/>
        </p:nvSpPr>
        <p:spPr>
          <a:xfrm>
            <a:off x="6537484" y="510563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Odds Ratio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37484" y="5596057"/>
            <a:ext cx="3150156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Country (Japan) shows a statistically significant odds ratio of approximately 1.56.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0171748" y="4281368"/>
            <a:ext cx="3664863" cy="2660690"/>
          </a:xfrm>
          <a:prstGeom prst="roundRect">
            <a:avLst>
              <a:gd name="adj" fmla="val 7673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02228" y="4311848"/>
            <a:ext cx="3603903" cy="226814"/>
          </a:xfrm>
          <a:prstGeom prst="roundRect">
            <a:avLst>
              <a:gd name="adj" fmla="val 73880"/>
            </a:avLst>
          </a:prstGeom>
          <a:solidFill>
            <a:srgbClr val="CEE6FD"/>
          </a:solidFill>
        </p:spPr>
      </p:sp>
      <p:sp>
        <p:nvSpPr>
          <p:cNvPr id="12" name="Text 9"/>
          <p:cNvSpPr/>
          <p:nvPr/>
        </p:nvSpPr>
        <p:spPr>
          <a:xfrm>
            <a:off x="10429042" y="476547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Other Variables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429042" y="5255895"/>
            <a:ext cx="315027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Most other variables did not show statistical significance in this multivariate analysis.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9020" y="572810"/>
            <a:ext cx="5840849" cy="6509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Limitations of the Study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1041440" y="1770459"/>
            <a:ext cx="12859941" cy="333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restriction limits our ability to fully explain variations in mental health outcomes across individuals and countries.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5398" y="2338149"/>
            <a:ext cx="10472023" cy="56045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72759" y="2868409"/>
            <a:ext cx="2893432" cy="3616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Observed Outcome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7625" y="2927081"/>
            <a:ext cx="257194" cy="2571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72759" y="3897185"/>
            <a:ext cx="2893432" cy="3616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Measured Variables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7625" y="3955857"/>
            <a:ext cx="257194" cy="25719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072759" y="4925961"/>
            <a:ext cx="3928035" cy="3616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Missing Socioeconomic Data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97625" y="4984633"/>
            <a:ext cx="257194" cy="25719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72759" y="5954736"/>
            <a:ext cx="3816316" cy="3616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Missing Environmental Data</a:t>
            </a:r>
            <a:endParaRPr lang="en-US" sz="13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97625" y="6013409"/>
            <a:ext cx="257194" cy="25719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072759" y="6996372"/>
            <a:ext cx="3660594" cy="3616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Limited Explanatory Power</a:t>
            </a:r>
            <a:endParaRPr lang="en-US" sz="13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97625" y="7055044"/>
            <a:ext cx="257194" cy="2571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85587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Recommendations &amp; Conclusion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93790" y="2643307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>
            <p:custDataLst>
              <p:tags r:id="rId4"/>
            </p:custDataLst>
          </p:nvPr>
        </p:nvSpPr>
        <p:spPr>
          <a:xfrm>
            <a:off x="2154674" y="2870121"/>
            <a:ext cx="3429119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Policy &amp; Workplace Focus</a:t>
            </a:r>
            <a:endParaRPr lang="en-US" sz="2200" dirty="0"/>
          </a:p>
        </p:txBody>
      </p:sp>
      <p:sp>
        <p:nvSpPr>
          <p:cNvPr id="6" name="Text 2"/>
          <p:cNvSpPr/>
          <p:nvPr>
            <p:custDataLst>
              <p:tags r:id="rId5"/>
            </p:custDataLst>
          </p:nvPr>
        </p:nvSpPr>
        <p:spPr>
          <a:xfrm>
            <a:off x="2154674" y="3360539"/>
            <a:ext cx="619553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Prioritize mental health policies and support in workplaces.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93790" y="4004191"/>
            <a:ext cx="1134070" cy="1669852"/>
          </a:xfrm>
          <a:prstGeom prst="rect">
            <a:avLst/>
          </a:prstGeom>
        </p:spPr>
      </p:pic>
      <p:sp>
        <p:nvSpPr>
          <p:cNvPr id="8" name="Text 3"/>
          <p:cNvSpPr/>
          <p:nvPr>
            <p:custDataLst>
              <p:tags r:id="rId8"/>
            </p:custDataLst>
          </p:nvPr>
        </p:nvSpPr>
        <p:spPr>
          <a:xfrm>
            <a:off x="2154674" y="4231005"/>
            <a:ext cx="3262789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Target High-Risk Groups</a:t>
            </a:r>
            <a:endParaRPr lang="en-US" sz="2200" dirty="0"/>
          </a:p>
        </p:txBody>
      </p:sp>
      <p:sp>
        <p:nvSpPr>
          <p:cNvPr id="9" name="Text 4"/>
          <p:cNvSpPr/>
          <p:nvPr>
            <p:custDataLst>
              <p:tags r:id="rId9"/>
            </p:custDataLst>
          </p:nvPr>
        </p:nvSpPr>
        <p:spPr>
          <a:xfrm>
            <a:off x="2154674" y="4721423"/>
            <a:ext cx="619553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 interventions for students and employed individuals.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93790" y="5674042"/>
            <a:ext cx="1134070" cy="1669852"/>
          </a:xfrm>
          <a:prstGeom prst="rect">
            <a:avLst/>
          </a:prstGeom>
        </p:spPr>
      </p:pic>
      <p:sp>
        <p:nvSpPr>
          <p:cNvPr id="11" name="Text 5"/>
          <p:cNvSpPr/>
          <p:nvPr>
            <p:custDataLst>
              <p:tags r:id="rId12"/>
            </p:custDataLst>
          </p:nvPr>
        </p:nvSpPr>
        <p:spPr>
          <a:xfrm>
            <a:off x="2154674" y="5900857"/>
            <a:ext cx="3215759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Improve Data Collection</a:t>
            </a:r>
            <a:endParaRPr lang="en-US" sz="2200" dirty="0"/>
          </a:p>
        </p:txBody>
      </p:sp>
      <p:sp>
        <p:nvSpPr>
          <p:cNvPr id="12" name="Text 6"/>
          <p:cNvSpPr/>
          <p:nvPr>
            <p:custDataLst>
              <p:tags r:id="rId13"/>
            </p:custDataLst>
          </p:nvPr>
        </p:nvSpPr>
        <p:spPr>
          <a:xfrm>
            <a:off x="2154674" y="6391275"/>
            <a:ext cx="619553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Include socioeconomic variables in future studies for comprehensive insights.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split orient="vert" dir="in"/>
      </p:transition>
    </mc:Choice>
    <mc:Fallback>
      <p:transition spd="slow">
        <p:split orient="vert"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6" grpId="0"/>
      <p:bldP spid="8" grpId="0"/>
      <p:bldP spid="9" grpId="0"/>
      <p:bldP spid="11" grpId="0"/>
      <p:bldP spid="12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207.1218897637795,&quot;left&quot;:59.89685039370079,&quot;top&quot;:366.9844094488189,&quot;width&quot;:1032.2062992125982}"/>
</p:tagLst>
</file>

<file path=ppt/tags/tag2.xml><?xml version="1.0" encoding="utf-8"?>
<p:tagLst xmlns:p="http://schemas.openxmlformats.org/presentationml/2006/main">
  <p:tag name="KSO_WM_DIAGRAM_VIRTUALLY_FRAME" val="{&quot;height&quot;:207.1218897637795,&quot;left&quot;:59.89685039370079,&quot;top&quot;:366.9844094488189,&quot;width&quot;:1032.2062992125982}"/>
</p:tagLst>
</file>

<file path=ppt/tags/tag3.xml><?xml version="1.0" encoding="utf-8"?>
<p:tagLst xmlns:p="http://schemas.openxmlformats.org/presentationml/2006/main">
  <p:tag name="KSO_WM_DIAGRAM_VIRTUALLY_FRAME" val="{&quot;height&quot;:207.1218897637795,&quot;left&quot;:59.89685039370079,&quot;top&quot;:366.9844094488189,&quot;width&quot;:1032.2062992125982}"/>
</p:tagLst>
</file>

<file path=ppt/tags/tag4.xml><?xml version="1.0" encoding="utf-8"?>
<p:tagLst xmlns:p="http://schemas.openxmlformats.org/presentationml/2006/main">
  <p:tag name="KSO_WM_DIAGRAM_VIRTUALLY_FRAME" val="{&quot;height&quot;:207.1218897637795,&quot;left&quot;:59.89685039370079,&quot;top&quot;:366.9844094488189,&quot;width&quot;:1032.2062992125982}"/>
</p:tagLst>
</file>

<file path=ppt/tags/tag5.xml><?xml version="1.0" encoding="utf-8"?>
<p:tagLst xmlns:p="http://schemas.openxmlformats.org/presentationml/2006/main">
  <p:tag name="KSO_WM_DIAGRAM_VIRTUALLY_FRAME" val="{&quot;height&quot;:207.1218897637795,&quot;left&quot;:59.89685039370079,&quot;top&quot;:366.9844094488189,&quot;width&quot;:1032.2062992125982}"/>
</p:tagLst>
</file>

<file path=ppt/tags/tag6.xml><?xml version="1.0" encoding="utf-8"?>
<p:tagLst xmlns:p="http://schemas.openxmlformats.org/presentationml/2006/main">
  <p:tag name="KSO_WM_DIAGRAM_VIRTUALLY_FRAME" val="{&quot;height&quot;:207.1218897637795,&quot;left&quot;:59.89685039370079,&quot;top&quot;:366.9844094488189,&quot;width&quot;:1032.2062992125982}"/>
</p:tagLst>
</file>

<file path=ppt/tags/tag7.xml><?xml version="1.0" encoding="utf-8"?>
<p:tagLst xmlns:p="http://schemas.openxmlformats.org/presentationml/2006/main">
  <p:tag name="KSO_WM_DIAGRAM_VIRTUALLY_FRAME" val="{&quot;height&quot;:207.1218897637795,&quot;left&quot;:59.89685039370079,&quot;top&quot;:366.9844094488189,&quot;width&quot;:1032.2062992125982}"/>
</p:tagLst>
</file>

<file path=ppt/tags/tag8.xml><?xml version="1.0" encoding="utf-8"?>
<p:tagLst xmlns:p="http://schemas.openxmlformats.org/presentationml/2006/main">
  <p:tag name="KSO_WM_DIAGRAM_VIRTUALLY_FRAME" val="{&quot;height&quot;:207.1218897637795,&quot;left&quot;:59.89685039370079,&quot;top&quot;:366.9844094488189,&quot;width&quot;:1032.2062992125982}"/>
</p:tagLst>
</file>

<file path=ppt/tags/tag9.xml><?xml version="1.0" encoding="utf-8"?>
<p:tagLst xmlns:p="http://schemas.openxmlformats.org/presentationml/2006/main">
  <p:tag name="KSO_WM_DIAGRAM_VIRTUALLY_FRAME" val="{&quot;height&quot;:207.1218897637795,&quot;left&quot;:59.89685039370079,&quot;top&quot;:366.9844094488189,&quot;width&quot;:1032.2062992125982}"/>
</p:tagLst>
</file>

<file path=ppt/tags/tag10.xml><?xml version="1.0" encoding="utf-8"?>
<p:tagLst xmlns:p="http://schemas.openxmlformats.org/presentationml/2006/main">
  <p:tag name="KSO_WM_DIAGRAM_VIRTUALLY_FRAME" val="{&quot;height&quot;:207.1218897637795,&quot;left&quot;:59.89685039370079,&quot;top&quot;:366.9844094488189,&quot;width&quot;:1032.2062992125982}"/>
</p:tagLst>
</file>

<file path=ppt/tags/tag11.xml><?xml version="1.0" encoding="utf-8"?>
<p:tagLst xmlns:p="http://schemas.openxmlformats.org/presentationml/2006/main">
  <p:tag name="KSO_WM_DIAGRAM_VIRTUALLY_FRAME" val="{&quot;height&quot;:207.1218897637795,&quot;left&quot;:59.89685039370079,&quot;top&quot;:366.9844094488189,&quot;width&quot;:1032.2062992125982}"/>
</p:tagLst>
</file>

<file path=ppt/tags/tag12.xml><?xml version="1.0" encoding="utf-8"?>
<p:tagLst xmlns:p="http://schemas.openxmlformats.org/presentationml/2006/main">
  <p:tag name="KSO_WM_DIAGRAM_VIRTUALLY_FRAME" val="{&quot;height&quot;:207.1218897637795,&quot;left&quot;:59.89685039370079,&quot;top&quot;:366.9844094488189,&quot;width&quot;:1032.2062992125982}"/>
</p:tagLst>
</file>

<file path=ppt/tags/tag13.xml><?xml version="1.0" encoding="utf-8"?>
<p:tagLst xmlns:p="http://schemas.openxmlformats.org/presentationml/2006/main">
  <p:tag name="KSO_WM_DIAGRAM_VIRTUALLY_FRAME" val="{&quot;height&quot;:207.1218897637795,&quot;left&quot;:59.89685039370079,&quot;top&quot;:366.9844094488189,&quot;width&quot;:1032.2062992125982}"/>
</p:tagLst>
</file>

<file path=ppt/tags/tag14.xml><?xml version="1.0" encoding="utf-8"?>
<p:tagLst xmlns:p="http://schemas.openxmlformats.org/presentationml/2006/main">
  <p:tag name="KSO_WM_DIAGRAM_VIRTUALLY_FRAME" val="{&quot;height&quot;:207.1218897637795,&quot;left&quot;:59.89685039370079,&quot;top&quot;:366.9844094488189,&quot;width&quot;:1032.2062992125982}"/>
</p:tagLst>
</file>

<file path=ppt/tags/tag15.xml><?xml version="1.0" encoding="utf-8"?>
<p:tagLst xmlns:p="http://schemas.openxmlformats.org/presentationml/2006/main">
  <p:tag name="KSO_WM_DIAGRAM_VIRTUALLY_FRAME" val="{&quot;height&quot;:207.1218897637795,&quot;left&quot;:59.89685039370079,&quot;top&quot;:366.9844094488189,&quot;width&quot;:1032.2062992125982}"/>
</p:tagLst>
</file>

<file path=ppt/tags/tag16.xml><?xml version="1.0" encoding="utf-8"?>
<p:tagLst xmlns:p="http://schemas.openxmlformats.org/presentationml/2006/main">
  <p:tag name="KSO_WM_DIAGRAM_VIRTUALLY_FRAME" val="{&quot;height&quot;:207.1218897637795,&quot;left&quot;:59.89685039370079,&quot;top&quot;:366.9844094488189,&quot;width&quot;:1032.2062992125982}"/>
</p:tagLst>
</file>

<file path=ppt/tags/tag17.xml><?xml version="1.0" encoding="utf-8"?>
<p:tagLst xmlns:p="http://schemas.openxmlformats.org/presentationml/2006/main">
  <p:tag name="KSO_WM_DIAGRAM_VIRTUALLY_FRAME" val="{&quot;height&quot;:207.1218897637795,&quot;left&quot;:59.89685039370079,&quot;top&quot;:366.9844094488189,&quot;width&quot;:1032.2062992125982}"/>
</p:tagLst>
</file>

<file path=ppt/tags/tag18.xml><?xml version="1.0" encoding="utf-8"?>
<p:tagLst xmlns:p="http://schemas.openxmlformats.org/presentationml/2006/main">
  <p:tag name="KSO_WM_DIAGRAM_VIRTUALLY_FRAME" val="{&quot;height&quot;:207.1218897637795,&quot;left&quot;:59.89685039370079,&quot;top&quot;:366.9844094488189,&quot;width&quot;:1032.2062992125982}"/>
</p:tagLst>
</file>

<file path=ppt/tags/tag19.xml><?xml version="1.0" encoding="utf-8"?>
<p:tagLst xmlns:p="http://schemas.openxmlformats.org/presentationml/2006/main">
  <p:tag name="KSO_WM_DIAGRAM_VIRTUALLY_FRAME" val="{&quot;height&quot;:202.92188976377952,&quot;left&quot;:62.50314960629921,&quot;top&quot;:172.2,&quot;width&quot;:1026.9843307086612}"/>
</p:tagLst>
</file>

<file path=ppt/tags/tag20.xml><?xml version="1.0" encoding="utf-8"?>
<p:tagLst xmlns:p="http://schemas.openxmlformats.org/presentationml/2006/main">
  <p:tag name="KSO_WM_DIAGRAM_VIRTUALLY_FRAME" val="{&quot;height&quot;:202.92188976377952,&quot;left&quot;:62.50314960629921,&quot;top&quot;:172.2,&quot;width&quot;:1026.9843307086612}"/>
</p:tagLst>
</file>

<file path=ppt/tags/tag21.xml><?xml version="1.0" encoding="utf-8"?>
<p:tagLst xmlns:p="http://schemas.openxmlformats.org/presentationml/2006/main">
  <p:tag name="KSO_WM_DIAGRAM_VIRTUALLY_FRAME" val="{&quot;height&quot;:202.92188976377952,&quot;left&quot;:62.50314960629921,&quot;top&quot;:172.2,&quot;width&quot;:1026.9843307086612}"/>
</p:tagLst>
</file>

<file path=ppt/tags/tag22.xml><?xml version="1.0" encoding="utf-8"?>
<p:tagLst xmlns:p="http://schemas.openxmlformats.org/presentationml/2006/main">
  <p:tag name="KSO_WM_DIAGRAM_VIRTUALLY_FRAME" val="{&quot;height&quot;:202.92188976377952,&quot;left&quot;:62.50314960629921,&quot;top&quot;:172.2,&quot;width&quot;:1026.9843307086612}"/>
</p:tagLst>
</file>

<file path=ppt/tags/tag23.xml><?xml version="1.0" encoding="utf-8"?>
<p:tagLst xmlns:p="http://schemas.openxmlformats.org/presentationml/2006/main">
  <p:tag name="KSO_WM_DIAGRAM_VIRTUALLY_FRAME" val="{&quot;height&quot;:202.92188976377952,&quot;left&quot;:62.50314960629921,&quot;top&quot;:172.2,&quot;width&quot;:1026.9843307086612}"/>
</p:tagLst>
</file>

<file path=ppt/tags/tag24.xml><?xml version="1.0" encoding="utf-8"?>
<p:tagLst xmlns:p="http://schemas.openxmlformats.org/presentationml/2006/main">
  <p:tag name="KSO_WM_DIAGRAM_VIRTUALLY_FRAME" val="{&quot;height&quot;:202.92188976377952,&quot;left&quot;:62.50314960629921,&quot;top&quot;:172.2,&quot;width&quot;:1026.9843307086612}"/>
</p:tagLst>
</file>

<file path=ppt/tags/tag25.xml><?xml version="1.0" encoding="utf-8"?>
<p:tagLst xmlns:p="http://schemas.openxmlformats.org/presentationml/2006/main">
  <p:tag name="KSO_WM_DIAGRAM_VIRTUALLY_FRAME" val="{&quot;height&quot;:202.92188976377952,&quot;left&quot;:62.50314960629921,&quot;top&quot;:172.2,&quot;width&quot;:1026.9843307086612}"/>
</p:tagLst>
</file>

<file path=ppt/tags/tag26.xml><?xml version="1.0" encoding="utf-8"?>
<p:tagLst xmlns:p="http://schemas.openxmlformats.org/presentationml/2006/main">
  <p:tag name="KSO_WM_DIAGRAM_VIRTUALLY_FRAME" val="{&quot;height&quot;:202.92188976377952,&quot;left&quot;:62.50314960629921,&quot;top&quot;:172.2,&quot;width&quot;:1026.9843307086612}"/>
</p:tagLst>
</file>

<file path=ppt/tags/tag27.xml><?xml version="1.0" encoding="utf-8"?>
<p:tagLst xmlns:p="http://schemas.openxmlformats.org/presentationml/2006/main">
  <p:tag name="KSO_WM_DIAGRAM_VIRTUALLY_FRAME" val="{&quot;height&quot;:202.92188976377952,&quot;left&quot;:62.50314960629921,&quot;top&quot;:172.2,&quot;width&quot;:1026.9843307086612}"/>
</p:tagLst>
</file>

<file path=ppt/tags/tag28.xml><?xml version="1.0" encoding="utf-8"?>
<p:tagLst xmlns:p="http://schemas.openxmlformats.org/presentationml/2006/main">
  <p:tag name="KSO_WM_DIAGRAM_VIRTUALLY_FRAME" val="{&quot;height&quot;:202.92188976377952,&quot;left&quot;:62.50314960629921,&quot;top&quot;:172.2,&quot;width&quot;:1026.9843307086612}"/>
</p:tagLst>
</file>

<file path=ppt/tags/tag29.xml><?xml version="1.0" encoding="utf-8"?>
<p:tagLst xmlns:p="http://schemas.openxmlformats.org/presentationml/2006/main">
  <p:tag name="KSO_WM_DIAGRAM_VIRTUALLY_FRAME" val="{&quot;height&quot;:202.92188976377952,&quot;left&quot;:62.50314960629921,&quot;top&quot;:172.2,&quot;width&quot;:1026.9843307086612}"/>
</p:tagLst>
</file>

<file path=ppt/tags/tag30.xml><?xml version="1.0" encoding="utf-8"?>
<p:tagLst xmlns:p="http://schemas.openxmlformats.org/presentationml/2006/main">
  <p:tag name="KSO_WM_DIAGRAM_VIRTUALLY_FRAME" val="{&quot;height&quot;:202.92188976377952,&quot;left&quot;:62.50314960629921,&quot;top&quot;:172.2,&quot;width&quot;:1026.9843307086612}"/>
</p:tagLst>
</file>

<file path=ppt/tags/tag31.xml><?xml version="1.0" encoding="utf-8"?>
<p:tagLst xmlns:p="http://schemas.openxmlformats.org/presentationml/2006/main">
  <p:tag name="KSO_WM_DIAGRAM_VIRTUALLY_FRAME" val="{&quot;height&quot;:202.92188976377952,&quot;left&quot;:62.50314960629921,&quot;top&quot;:172.2,&quot;width&quot;:1026.9843307086612}"/>
</p:tagLst>
</file>

<file path=ppt/tags/tag32.xml><?xml version="1.0" encoding="utf-8"?>
<p:tagLst xmlns:p="http://schemas.openxmlformats.org/presentationml/2006/main">
  <p:tag name="KSO_WM_DIAGRAM_VIRTUALLY_FRAME" val="{&quot;height&quot;:202.92188976377952,&quot;left&quot;:62.50314960629921,&quot;top&quot;:172.2,&quot;width&quot;:1026.9843307086612}"/>
</p:tagLst>
</file>

<file path=ppt/tags/tag33.xml><?xml version="1.0" encoding="utf-8"?>
<p:tagLst xmlns:p="http://schemas.openxmlformats.org/presentationml/2006/main">
  <p:tag name="KSO_WM_DIAGRAM_VIRTUALLY_FRAME" val="{&quot;height&quot;:202.92188976377952,&quot;left&quot;:62.50314960629921,&quot;top&quot;:172.2,&quot;width&quot;:1026.9843307086612}"/>
</p:tagLst>
</file>

<file path=ppt/tags/tag34.xml><?xml version="1.0" encoding="utf-8"?>
<p:tagLst xmlns:p="http://schemas.openxmlformats.org/presentationml/2006/main">
  <p:tag name="KSO_WM_DIAGRAM_VIRTUALLY_FRAME" val="{&quot;height&quot;:370.12496062992125,&quot;left&quot;:62.50314960629921,&quot;top&quot;:208.1344094488189,&quot;width&quot;:594.9937007874016}"/>
</p:tagLst>
</file>

<file path=ppt/tags/tag35.xml><?xml version="1.0" encoding="utf-8"?>
<p:tagLst xmlns:p="http://schemas.openxmlformats.org/presentationml/2006/main">
  <p:tag name="KSO_WM_DIAGRAM_VIRTUALLY_FRAME" val="{&quot;height&quot;:370.12496062992125,&quot;left&quot;:62.50314960629921,&quot;top&quot;:208.1344094488189,&quot;width&quot;:594.9937007874016}"/>
</p:tagLst>
</file>

<file path=ppt/tags/tag36.xml><?xml version="1.0" encoding="utf-8"?>
<p:tagLst xmlns:p="http://schemas.openxmlformats.org/presentationml/2006/main">
  <p:tag name="KSO_WM_DIAGRAM_VIRTUALLY_FRAME" val="{&quot;height&quot;:370.12496062992125,&quot;left&quot;:62.50314960629921,&quot;top&quot;:208.1344094488189,&quot;width&quot;:594.9937007874016}"/>
</p:tagLst>
</file>

<file path=ppt/tags/tag37.xml><?xml version="1.0" encoding="utf-8"?>
<p:tagLst xmlns:p="http://schemas.openxmlformats.org/presentationml/2006/main">
  <p:tag name="KSO_WM_DIAGRAM_VIRTUALLY_FRAME" val="{&quot;height&quot;:370.12496062992125,&quot;left&quot;:62.50314960629921,&quot;top&quot;:208.1344094488189,&quot;width&quot;:594.9937007874016}"/>
</p:tagLst>
</file>

<file path=ppt/tags/tag38.xml><?xml version="1.0" encoding="utf-8"?>
<p:tagLst xmlns:p="http://schemas.openxmlformats.org/presentationml/2006/main">
  <p:tag name="KSO_WM_DIAGRAM_VIRTUALLY_FRAME" val="{&quot;height&quot;:370.12496062992125,&quot;left&quot;:62.50314960629921,&quot;top&quot;:208.1344094488189,&quot;width&quot;:594.9937007874016}"/>
</p:tagLst>
</file>

<file path=ppt/tags/tag39.xml><?xml version="1.0" encoding="utf-8"?>
<p:tagLst xmlns:p="http://schemas.openxmlformats.org/presentationml/2006/main">
  <p:tag name="KSO_WM_DIAGRAM_VIRTUALLY_FRAME" val="{&quot;height&quot;:370.12496062992125,&quot;left&quot;:62.50314960629921,&quot;top&quot;:208.1344094488189,&quot;width&quot;:594.9937007874016}"/>
</p:tagLst>
</file>

<file path=ppt/tags/tag40.xml><?xml version="1.0" encoding="utf-8"?>
<p:tagLst xmlns:p="http://schemas.openxmlformats.org/presentationml/2006/main">
  <p:tag name="KSO_WM_DIAGRAM_VIRTUALLY_FRAME" val="{&quot;height&quot;:370.12496062992125,&quot;left&quot;:62.50314960629921,&quot;top&quot;:208.1344094488189,&quot;width&quot;:594.9937007874016}"/>
</p:tagLst>
</file>

<file path=ppt/tags/tag41.xml><?xml version="1.0" encoding="utf-8"?>
<p:tagLst xmlns:p="http://schemas.openxmlformats.org/presentationml/2006/main">
  <p:tag name="KSO_WM_DIAGRAM_VIRTUALLY_FRAME" val="{&quot;height&quot;:370.12496062992125,&quot;left&quot;:62.50314960629921,&quot;top&quot;:208.1344094488189,&quot;width&quot;:594.9937007874016}"/>
</p:tagLst>
</file>

<file path=ppt/tags/tag42.xml><?xml version="1.0" encoding="utf-8"?>
<p:tagLst xmlns:p="http://schemas.openxmlformats.org/presentationml/2006/main">
  <p:tag name="KSO_WM_DIAGRAM_VIRTUALLY_FRAME" val="{&quot;height&quot;:370.12496062992125,&quot;left&quot;:62.50314960629921,&quot;top&quot;:208.1344094488189,&quot;width&quot;:594.993700787401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2115</Words>
  <Application>WPS Presentation</Application>
  <PresentationFormat>On-screen Show (16:9)</PresentationFormat>
  <Paragraphs>128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Instrument Sans Semi Bold</vt:lpstr>
      <vt:lpstr>Instrument Sans Semi Bold</vt:lpstr>
      <vt:lpstr>Instrument Sans Semi Bold</vt:lpstr>
      <vt:lpstr>Instrument Sans Medium</vt:lpstr>
      <vt:lpstr>Instrument Sans Medium</vt:lpstr>
      <vt:lpstr>Instrument Sans Medium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Ngọc Phượng</cp:lastModifiedBy>
  <cp:revision>2</cp:revision>
  <dcterms:created xsi:type="dcterms:W3CDTF">2025-12-31T19:23:00Z</dcterms:created>
  <dcterms:modified xsi:type="dcterms:W3CDTF">2025-12-31T19:53:06Z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891C7FD2FE834FAFAB4428088F66B74C_12</vt:lpwstr>
  </property>
  <property fmtid="{D5CDD505-2E9C-101B-9397-08002B2CF9AE}" pid="3" name="KSOProductBuildVer">
    <vt:lpwstr>1033-12.2.0.23196</vt:lpwstr>
  </property>
</Properties>
</file>